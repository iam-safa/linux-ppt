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1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3" r:id="rId10"/>
    <p:sldId id="271" r:id="rId11"/>
    <p:sldId id="269" r:id="rId12"/>
    <p:sldId id="272" r:id="rId13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ront" id="{CCDA86D8-AE25-9B73-47CF-CE3F429AABB9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73"/>
            <p14:sldId id="271"/>
            <p14:sldId id="269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34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5548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Common front slide for all teams. Replace the title, team name, student names and roll numbers. Keep the logo, department and year/semester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" y="3882120"/>
            <a:ext cx="8730234" cy="63412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3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7735" y="4485132"/>
            <a:ext cx="8709660" cy="397764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665" y="200025"/>
            <a:ext cx="8737092" cy="3640361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93743"/>
            <a:ext cx="2104054" cy="24785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03386" y="4793743"/>
            <a:ext cx="2620736" cy="247850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24122" y="4793743"/>
            <a:ext cx="321905" cy="24785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185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36872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45197" y="156566"/>
            <a:ext cx="3049554" cy="279445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75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51547" y="3634740"/>
            <a:ext cx="3049554" cy="103555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0025"/>
            <a:ext cx="5429249" cy="4742168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749861" y="4793742"/>
            <a:ext cx="202783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8125" y="4793742"/>
            <a:ext cx="77406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8" y="4791628"/>
            <a:ext cx="342900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795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3949" y="1147157"/>
            <a:ext cx="6116103" cy="1742912"/>
          </a:xfrm>
        </p:spPr>
        <p:txBody>
          <a:bodyPr anchor="b">
            <a:normAutofit/>
          </a:bodyPr>
          <a:lstStyle>
            <a:lvl1pPr algn="ctr">
              <a:defRPr sz="405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33036" y="3040128"/>
            <a:ext cx="4477928" cy="80450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>
                <a:solidFill>
                  <a:schemeClr val="tx2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6012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297" y="2400300"/>
            <a:ext cx="6752171" cy="2686638"/>
          </a:xfrm>
        </p:spPr>
        <p:txBody>
          <a:bodyPr anchor="b">
            <a:normAutofit/>
          </a:bodyPr>
          <a:lstStyle>
            <a:lvl1pPr>
              <a:defRPr sz="5175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028" y="105912"/>
            <a:ext cx="202783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858125" y="105912"/>
            <a:ext cx="774063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8" y="105912"/>
            <a:ext cx="342900" cy="253746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4713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362" y="142267"/>
            <a:ext cx="8506429" cy="1222114"/>
          </a:xfrm>
        </p:spPr>
        <p:txBody>
          <a:bodyPr anchor="t">
            <a:normAutofit/>
          </a:bodyPr>
          <a:lstStyle>
            <a:lvl1pPr>
              <a:defRPr sz="57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0" y="1771650"/>
            <a:ext cx="4371975" cy="2857500"/>
          </a:xfrm>
        </p:spPr>
        <p:txBody>
          <a:bodyPr vert="horz" lIns="91440" tIns="45720" rIns="91440" bIns="45720" rtlCol="0" anchor="b">
            <a:normAutofit/>
          </a:bodyPr>
          <a:lstStyle>
            <a:lvl1pPr marL="342900" indent="-342900">
              <a:buFont typeface="+mj-lt"/>
              <a:buAutoNum type="arabicPeriod"/>
              <a:defRPr lang="en-US" sz="1200" dirty="0"/>
            </a:lvl1pPr>
            <a:lvl2pPr marL="428625" indent="-257175">
              <a:buFont typeface="+mj-lt"/>
              <a:buAutoNum type="arabicPeriod"/>
              <a:defRPr lang="en-US" sz="1200" dirty="0"/>
            </a:lvl2pPr>
            <a:lvl3pPr marL="600075" indent="-257175">
              <a:buFont typeface="+mj-lt"/>
              <a:buAutoNum type="arabicPeriod"/>
              <a:defRPr lang="en-US" sz="1200" dirty="0"/>
            </a:lvl3pPr>
            <a:lvl4pPr>
              <a:buFont typeface="+mj-lt"/>
              <a:buAutoNum type="arabicPeriod"/>
              <a:defRPr lang="en-US" sz="1200" dirty="0"/>
            </a:lvl4pPr>
            <a:lvl5pPr>
              <a:buFont typeface="+mj-lt"/>
              <a:buAutoNum type="arabicPeriod"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92506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3046397"/>
            <a:ext cx="4434840" cy="1701269"/>
          </a:xfrm>
        </p:spPr>
        <p:txBody>
          <a:bodyPr anchor="t">
            <a:normAutofit/>
          </a:bodyPr>
          <a:lstStyle>
            <a:lvl1pPr>
              <a:defRPr sz="43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05740" y="201381"/>
            <a:ext cx="8737092" cy="2706814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36980" y="3029338"/>
            <a:ext cx="3314701" cy="1701270"/>
          </a:xfrm>
        </p:spPr>
        <p:txBody>
          <a:bodyPr vert="horz" lIns="91440" tIns="45720" rIns="91440" bIns="45720" rtlCol="0">
            <a:normAutofit/>
          </a:bodyPr>
          <a:lstStyle>
            <a:lvl1pPr marL="257175" indent="-257175">
              <a:buFont typeface="+mj-lt"/>
              <a:buAutoNum type="arabicPeriod"/>
              <a:defRPr lang="en-US" sz="1050" dirty="0"/>
            </a:lvl1pPr>
            <a:lvl2pPr marL="428625" indent="-257175">
              <a:buFont typeface="+mj-lt"/>
              <a:buAutoNum type="arabicPeriod"/>
              <a:defRPr lang="en-US" sz="1050" dirty="0"/>
            </a:lvl2pPr>
            <a:lvl3pPr marL="600075" indent="-257175">
              <a:buFont typeface="+mj-lt"/>
              <a:buAutoNum type="arabicPeriod"/>
              <a:defRPr lang="en-US" sz="1050" dirty="0"/>
            </a:lvl3pPr>
            <a:lvl4pPr>
              <a:buFont typeface="+mj-lt"/>
              <a:buAutoNum type="arabicPeriod"/>
              <a:defRPr lang="en-US" sz="1050" dirty="0"/>
            </a:lvl4pPr>
            <a:lvl5pPr>
              <a:buFont typeface="+mj-lt"/>
              <a:buAutoNum type="arabicPeriod"/>
              <a:defRPr lang="en-US" sz="1050" dirty="0"/>
            </a:lvl5pPr>
          </a:lstStyle>
          <a:p>
            <a:pPr marL="171450" lvl="0" indent="-171450"/>
            <a:r>
              <a:rPr lang="en-US"/>
              <a:t>Click to edit Master text styles</a:t>
            </a:r>
          </a:p>
          <a:p>
            <a:pPr marL="171450" lvl="1" indent="-171450"/>
            <a:r>
              <a:rPr lang="en-US"/>
              <a:t>Second level</a:t>
            </a:r>
          </a:p>
          <a:p>
            <a:pPr marL="171450" lvl="2" indent="-171450"/>
            <a:r>
              <a:rPr lang="en-US"/>
              <a:t>Third level</a:t>
            </a:r>
          </a:p>
          <a:p>
            <a:pPr marL="171450" lvl="3" indent="-171450"/>
            <a:r>
              <a:rPr lang="en-US"/>
              <a:t>Fourth level</a:t>
            </a:r>
          </a:p>
          <a:p>
            <a:pPr marL="171450" lvl="4" indent="-171450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90803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153396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8848" y="1228724"/>
            <a:ext cx="2486025" cy="2904951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675764" y="1228725"/>
            <a:ext cx="4560570" cy="290495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10624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3"/>
            <a:ext cx="2482796" cy="3043595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979506" y="200025"/>
            <a:ext cx="5766371" cy="45358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123174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89644" y="164592"/>
            <a:ext cx="4782410" cy="79950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1430"/>
            <a:ext cx="3314700" cy="4744477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689644" y="964097"/>
            <a:ext cx="4782410" cy="373976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9645" y="4790803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89856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527" y="164592"/>
            <a:ext cx="5430973" cy="6926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740" y="201430"/>
            <a:ext cx="2756916" cy="4745736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141526" y="857250"/>
            <a:ext cx="5430974" cy="392963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41527" y="478723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894717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5430973" cy="692658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857250"/>
            <a:ext cx="5430974" cy="3929634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60" y="478723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794070" y="4790346"/>
            <a:ext cx="77406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68133" y="4790346"/>
            <a:ext cx="34290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187059" y="201430"/>
            <a:ext cx="2756916" cy="4745736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6582683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92" y="164592"/>
            <a:ext cx="3538072" cy="88566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9392" y="1050258"/>
            <a:ext cx="3546784" cy="3653605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91129" y="4793096"/>
            <a:ext cx="974088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65217" y="4793096"/>
            <a:ext cx="342900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00528" y="200025"/>
            <a:ext cx="4743352" cy="474345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3418050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1" y="165652"/>
            <a:ext cx="2406015" cy="2316476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14725" y="200025"/>
            <a:ext cx="2625404" cy="474345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45815" y="165652"/>
            <a:ext cx="2400300" cy="4541666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03177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317" y="164593"/>
            <a:ext cx="2918576" cy="91900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2855" y="198882"/>
            <a:ext cx="5238477" cy="4745736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635315" y="1076739"/>
            <a:ext cx="2918576" cy="3625397"/>
          </a:xfrm>
        </p:spPr>
        <p:txBody>
          <a:bodyPr anchor="b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636310" y="4790346"/>
            <a:ext cx="2027833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1166806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390" y="164592"/>
            <a:ext cx="2426237" cy="118291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9390" y="1347506"/>
            <a:ext cx="2426237" cy="3353607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4029" y="4790346"/>
            <a:ext cx="1571828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54812" y="4793096"/>
            <a:ext cx="774063" cy="253746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428875" y="4793096"/>
            <a:ext cx="34290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974338" y="198882"/>
            <a:ext cx="5969638" cy="4745736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2540202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409" y="162339"/>
            <a:ext cx="2536190" cy="1660143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71800" y="133119"/>
            <a:ext cx="5972175" cy="1714500"/>
          </a:xfrm>
        </p:spPr>
        <p:txBody>
          <a:bodyPr>
            <a:normAutofit/>
          </a:bodyPr>
          <a:lstStyle>
            <a:lvl1pPr marL="214313" indent="-214313">
              <a:buFont typeface="Arial" panose="020B0604020202020204" pitchFamily="34" charset="0"/>
              <a:buChar char="•"/>
              <a:defRPr sz="1050"/>
            </a:lvl1pPr>
            <a:lvl2pPr marL="385763" indent="-214313">
              <a:buFont typeface="Arial" panose="020B0604020202020204" pitchFamily="34" charset="0"/>
              <a:buChar char="•"/>
              <a:defRPr sz="1050"/>
            </a:lvl2pPr>
            <a:lvl3pPr marL="557213" indent="-214313">
              <a:buFont typeface="Arial" panose="020B0604020202020204" pitchFamily="34" charset="0"/>
              <a:buChar char="•"/>
              <a:defRPr sz="1050"/>
            </a:lvl3pPr>
            <a:lvl4pPr marL="642938" indent="-128588">
              <a:buFont typeface="Arial" panose="020B0604020202020204" pitchFamily="34" charset="0"/>
              <a:buChar char="•"/>
              <a:defRPr sz="1050"/>
            </a:lvl4pPr>
            <a:lvl5pPr marL="814388" indent="-128588">
              <a:buFont typeface="Arial" panose="020B0604020202020204" pitchFamily="34" charset="0"/>
              <a:buChar char="•"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409" y="1885098"/>
            <a:ext cx="2104054" cy="253746"/>
          </a:xfrm>
        </p:spPr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2754" y="1887183"/>
            <a:ext cx="963008" cy="25374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32189" y="1885098"/>
            <a:ext cx="336980" cy="253746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05665" y="2201460"/>
            <a:ext cx="8738310" cy="2742015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92738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3"/>
            <a:ext cx="2379481" cy="2358764"/>
          </a:xfrm>
        </p:spPr>
        <p:txBody>
          <a:bodyPr anchor="t">
            <a:normAutofit/>
          </a:bodyPr>
          <a:lstStyle>
            <a:lvl1pPr>
              <a:defRPr sz="22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000375" y="198999"/>
            <a:ext cx="5943600" cy="2321878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35924" y="2657698"/>
            <a:ext cx="6008051" cy="2132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32183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23866" y="570114"/>
            <a:ext cx="7296269" cy="3175255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4707" y="3941369"/>
            <a:ext cx="6974586" cy="768995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1800" spc="-38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4707" y="969819"/>
            <a:ext cx="6974586" cy="295794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19500" spc="-75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778331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486" y="-850392"/>
            <a:ext cx="7989570" cy="685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7161" y="130303"/>
            <a:ext cx="7856624" cy="363798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5700" b="0" cap="none" spc="-38" baseline="0"/>
            </a:lvl1pPr>
            <a:lvl2pPr marL="171450" indent="0">
              <a:lnSpc>
                <a:spcPct val="90000"/>
              </a:lnSpc>
              <a:buNone/>
              <a:defRPr sz="4950" b="0" cap="none" spc="-38" baseline="0"/>
            </a:lvl2pPr>
            <a:lvl3pPr marL="342900" indent="0">
              <a:lnSpc>
                <a:spcPct val="90000"/>
              </a:lnSpc>
              <a:buNone/>
              <a:defRPr sz="4500" b="0" cap="none" spc="-38" baseline="0"/>
            </a:lvl3pPr>
            <a:lvl4pPr marL="514350" indent="0">
              <a:lnSpc>
                <a:spcPct val="90000"/>
              </a:lnSpc>
              <a:buNone/>
              <a:defRPr sz="4050" b="0" cap="none" spc="-38" baseline="0"/>
            </a:lvl4pPr>
            <a:lvl5pPr marL="685800" indent="0">
              <a:lnSpc>
                <a:spcPct val="90000"/>
              </a:lnSpc>
              <a:buNone/>
              <a:defRPr sz="3600" b="0" cap="none" spc="-38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0124284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41588" y="3771900"/>
            <a:ext cx="6899148" cy="534924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1500" b="1" spc="-38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41588" y="836676"/>
            <a:ext cx="6899148" cy="2688336"/>
          </a:xfrm>
        </p:spPr>
        <p:txBody>
          <a:bodyPr anchor="ctr">
            <a:normAutofit/>
          </a:bodyPr>
          <a:lstStyle>
            <a:lvl1pPr marL="102870" indent="-10287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3750" spc="-38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085651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8495028" cy="7811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7160" y="1234440"/>
            <a:ext cx="4065307" cy="3556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86300" y="1234440"/>
            <a:ext cx="3945888" cy="35561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3259295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5890" y="164593"/>
            <a:ext cx="8455914" cy="59238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5889" y="756980"/>
            <a:ext cx="390906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36223" y="1237088"/>
            <a:ext cx="3909060" cy="3257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84014" y="756980"/>
            <a:ext cx="3909060" cy="41987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200" b="1" cap="all" baseline="0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684014" y="1237088"/>
            <a:ext cx="3909060" cy="32575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6526064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8794845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649919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896" y="155421"/>
            <a:ext cx="8251457" cy="1343025"/>
          </a:xfrm>
        </p:spPr>
        <p:txBody>
          <a:bodyPr anchor="t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6646" y="2448306"/>
            <a:ext cx="7610708" cy="21259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5736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6685" y="816935"/>
            <a:ext cx="4770630" cy="1628787"/>
          </a:xfrm>
        </p:spPr>
        <p:txBody>
          <a:bodyPr anchor="b">
            <a:no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492148" y="2624910"/>
            <a:ext cx="4157663" cy="1328738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200" dirty="0"/>
            </a:lvl1pPr>
            <a:lvl2pPr marL="171450" indent="0" algn="ctr">
              <a:buNone/>
              <a:defRPr lang="en-US" sz="1200" dirty="0"/>
            </a:lvl2pPr>
            <a:lvl3pPr marL="342900" indent="0" algn="ctr">
              <a:buNone/>
              <a:defRPr lang="en-US" sz="1200" dirty="0"/>
            </a:lvl3pPr>
            <a:lvl4pPr marL="514350" indent="0" algn="ctr">
              <a:buNone/>
              <a:defRPr lang="en-US" sz="1200" dirty="0"/>
            </a:lvl4pPr>
            <a:lvl5pPr marL="685800" indent="0" algn="ctr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03000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FRONT_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457200" y="1691640"/>
            <a:ext cx="82296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</p:spTree>
    <p:extLst>
      <p:ext uri="{BB962C8B-B14F-4D97-AF65-F5344CB8AC3E}">
        <p14:creationId xmlns:p14="http://schemas.microsoft.com/office/powerpoint/2010/main" val="287102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" y="164592"/>
            <a:ext cx="8126730" cy="7269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" y="887404"/>
            <a:ext cx="8126730" cy="3816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4028" y="4790346"/>
            <a:ext cx="2027833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63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858125" y="4790346"/>
            <a:ext cx="774063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32188" y="4790346"/>
            <a:ext cx="342900" cy="25374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63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5717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2" r:id="rId1"/>
    <p:sldLayoutId id="2147483853" r:id="rId2"/>
    <p:sldLayoutId id="2147483854" r:id="rId3"/>
    <p:sldLayoutId id="2147483855" r:id="rId4"/>
    <p:sldLayoutId id="2147483856" r:id="rId5"/>
    <p:sldLayoutId id="2147483857" r:id="rId6"/>
    <p:sldLayoutId id="2147483858" r:id="rId7"/>
    <p:sldLayoutId id="2147483859" r:id="rId8"/>
    <p:sldLayoutId id="2147483860" r:id="rId9"/>
    <p:sldLayoutId id="2147483861" r:id="rId10"/>
    <p:sldLayoutId id="2147483862" r:id="rId11"/>
    <p:sldLayoutId id="2147483863" r:id="rId12"/>
    <p:sldLayoutId id="2147483864" r:id="rId13"/>
    <p:sldLayoutId id="2147483865" r:id="rId14"/>
    <p:sldLayoutId id="2147483866" r:id="rId15"/>
    <p:sldLayoutId id="2147483867" r:id="rId16"/>
    <p:sldLayoutId id="2147483868" r:id="rId17"/>
    <p:sldLayoutId id="2147483869" r:id="rId18"/>
    <p:sldLayoutId id="2147483870" r:id="rId19"/>
    <p:sldLayoutId id="2147483871" r:id="rId20"/>
    <p:sldLayoutId id="2147483872" r:id="rId21"/>
    <p:sldLayoutId id="2147483873" r:id="rId22"/>
    <p:sldLayoutId id="2147483874" r:id="rId23"/>
    <p:sldLayoutId id="2147483875" r:id="rId24"/>
    <p:sldLayoutId id="2147483876" r:id="rId25"/>
    <p:sldLayoutId id="2147483877" r:id="rId26"/>
    <p:sldLayoutId id="2147483878" r:id="rId27"/>
    <p:sldLayoutId id="2147483879" r:id="rId28"/>
  </p:sldLayoutIdLst>
  <p:hf sldNum="0" hdr="0" ft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250" b="0" kern="1200" spc="-75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313" indent="-214313" algn="l" defTabSz="685800" rtl="0" eaLnBrk="1" latinLnBrk="0" hangingPunct="1">
        <a:lnSpc>
          <a:spcPct val="120000"/>
        </a:lnSpc>
        <a:spcBef>
          <a:spcPts val="75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2pPr>
      <a:lvl3pPr marL="55721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72866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00113" indent="-214313" algn="l" defTabSz="685800" rtl="0" eaLnBrk="1" latinLnBrk="0" hangingPunct="1">
        <a:lnSpc>
          <a:spcPct val="12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Relationship Id="rId4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L logo" descr="KL University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65760"/>
            <a:ext cx="2194560" cy="1057523"/>
          </a:xfrm>
          <a:prstGeom prst="rect">
            <a:avLst/>
          </a:prstGeom>
        </p:spPr>
      </p:pic>
      <p:sp>
        <p:nvSpPr>
          <p:cNvPr id="3" name="Chip Dept. of CSA – BCA"/>
          <p:cNvSpPr/>
          <p:nvPr/>
        </p:nvSpPr>
        <p:spPr>
          <a:xfrm>
            <a:off x="6400800" y="411480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4" name="Chip text Dept. of CSA – BCA"/>
          <p:cNvSpPr txBox="1"/>
          <p:nvPr/>
        </p:nvSpPr>
        <p:spPr>
          <a:xfrm>
            <a:off x="6400800" y="4114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Dept. of CSA – BCA</a:t>
            </a:r>
            <a:endParaRPr lang="en-US" sz="1400" dirty="0"/>
          </a:p>
        </p:txBody>
      </p:sp>
      <p:sp>
        <p:nvSpPr>
          <p:cNvPr id="5" name="Chip I Year – I Semester"/>
          <p:cNvSpPr/>
          <p:nvPr/>
        </p:nvSpPr>
        <p:spPr>
          <a:xfrm>
            <a:off x="6400800" y="886968"/>
            <a:ext cx="22860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6" name="Chip text I Year – I Semester"/>
          <p:cNvSpPr txBox="1"/>
          <p:nvPr/>
        </p:nvSpPr>
        <p:spPr>
          <a:xfrm>
            <a:off x="6400800" y="88696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accent1"/>
                </a:solidFill>
              </a:rPr>
              <a:t>I Year – I Semester</a:t>
            </a:r>
            <a:endParaRPr lang="en-US" sz="1400" dirty="0"/>
          </a:p>
        </p:txBody>
      </p:sp>
      <p:sp>
        <p:nvSpPr>
          <p:cNvPr id="7" name="Text 0"/>
          <p:cNvSpPr>
            <a:spLocks noGrp="1"/>
          </p:cNvSpPr>
          <p:nvPr>
            <p:ph type="title" idx="100"/>
          </p:nvPr>
        </p:nvSpPr>
        <p:spPr>
          <a:xfrm>
            <a:off x="518160" y="1446209"/>
            <a:ext cx="7002780" cy="12787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0000"/>
          </a:bodyPr>
          <a:lstStyle/>
          <a:p>
            <a:r>
              <a:rPr lang="en-US" dirty="0"/>
              <a:t>Automated Log Analysis and Error Alert System Using Bash Shell Scripting !</a:t>
            </a:r>
            <a:endParaRPr lang="en-US" sz="3800" dirty="0"/>
          </a:p>
        </p:txBody>
      </p:sp>
      <p:sp>
        <p:nvSpPr>
          <p:cNvPr id="8" name="Team name pill"/>
          <p:cNvSpPr/>
          <p:nvPr/>
        </p:nvSpPr>
        <p:spPr>
          <a:xfrm>
            <a:off x="2424684" y="2611853"/>
            <a:ext cx="4828032" cy="411480"/>
          </a:xfrm>
          <a:prstGeom prst="roundRect">
            <a:avLst>
              <a:gd name="adj" fmla="val 48889"/>
            </a:avLst>
          </a:prstGeom>
          <a:solidFill>
            <a:schemeClr val="accent1"/>
          </a:solidFill>
          <a:ln/>
        </p:spPr>
      </p:sp>
      <p:sp>
        <p:nvSpPr>
          <p:cNvPr id="9" name="Team name text"/>
          <p:cNvSpPr txBox="1"/>
          <p:nvPr/>
        </p:nvSpPr>
        <p:spPr>
          <a:xfrm>
            <a:off x="2005965" y="2181406"/>
            <a:ext cx="5170932" cy="12787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Team Name: BASHX</a:t>
            </a:r>
            <a:endParaRPr lang="en-US" sz="1600" dirty="0"/>
          </a:p>
        </p:txBody>
      </p:sp>
      <p:sp>
        <p:nvSpPr>
          <p:cNvPr id="10" name="Student card 1"/>
          <p:cNvSpPr/>
          <p:nvPr/>
        </p:nvSpPr>
        <p:spPr>
          <a:xfrm>
            <a:off x="460248" y="3149030"/>
            <a:ext cx="4127754" cy="1890073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   </a:t>
            </a:r>
            <a:r>
              <a:rPr lang="en-US" b="1" dirty="0"/>
              <a:t>DRMAGUNJ SHROOTHY</a:t>
            </a:r>
          </a:p>
          <a:p>
            <a:r>
              <a:rPr lang="en-US" b="1" dirty="0"/>
              <a:t>               </a:t>
            </a:r>
            <a:r>
              <a:rPr lang="en-US" sz="1600" dirty="0" err="1"/>
              <a:t>R.No</a:t>
            </a:r>
            <a:r>
              <a:rPr lang="en-US" sz="1600" dirty="0"/>
              <a:t>: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[2610520031]</a:t>
            </a:r>
          </a:p>
          <a:p>
            <a:endParaRPr lang="en-US" dirty="0"/>
          </a:p>
        </p:txBody>
      </p:sp>
      <p:sp>
        <p:nvSpPr>
          <p:cNvPr id="11" name="Student icon badge 1"/>
          <p:cNvSpPr/>
          <p:nvPr/>
        </p:nvSpPr>
        <p:spPr>
          <a:xfrm>
            <a:off x="709422" y="3327654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Student icon 1" descr="Student icon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3473882"/>
            <a:ext cx="237744" cy="237744"/>
          </a:xfrm>
          <a:prstGeom prst="rect">
            <a:avLst/>
          </a:prstGeom>
        </p:spPr>
      </p:pic>
      <p:sp>
        <p:nvSpPr>
          <p:cNvPr id="13" name="Student name 1"/>
          <p:cNvSpPr txBox="1"/>
          <p:nvPr/>
        </p:nvSpPr>
        <p:spPr>
          <a:xfrm>
            <a:off x="1487424" y="3288012"/>
            <a:ext cx="2926080" cy="4236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/>
              <a:t>SAFA SABER</a:t>
            </a:r>
            <a:endParaRPr lang="en-US" sz="1800" dirty="0"/>
          </a:p>
        </p:txBody>
      </p:sp>
      <p:sp>
        <p:nvSpPr>
          <p:cNvPr id="14" name="Roll number 1"/>
          <p:cNvSpPr txBox="1"/>
          <p:nvPr/>
        </p:nvSpPr>
        <p:spPr>
          <a:xfrm>
            <a:off x="1464564" y="358444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chemeClr val="bg2">
                    <a:lumMod val="10000"/>
                  </a:schemeClr>
                </a:solidFill>
              </a:rPr>
              <a:t>R.No</a:t>
            </a:r>
            <a:r>
              <a:rPr lang="en-US" sz="1600" dirty="0"/>
              <a:t>:</a:t>
            </a:r>
            <a:r>
              <a:rPr lang="en-US" sz="1600" dirty="0">
                <a:solidFill>
                  <a:schemeClr val="accent6"/>
                </a:solidFill>
              </a:rPr>
              <a:t>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[2610520003]</a:t>
            </a:r>
          </a:p>
        </p:txBody>
      </p:sp>
      <p:sp>
        <p:nvSpPr>
          <p:cNvPr id="15" name="Student card 2"/>
          <p:cNvSpPr/>
          <p:nvPr/>
        </p:nvSpPr>
        <p:spPr>
          <a:xfrm>
            <a:off x="4754880" y="3155542"/>
            <a:ext cx="4210050" cy="1888898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r>
              <a:rPr lang="en-US" dirty="0"/>
              <a:t>                              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           </a:t>
            </a:r>
            <a:r>
              <a:rPr lang="en-US" b="1" dirty="0"/>
              <a:t>ANDULA CHARAN </a:t>
            </a:r>
          </a:p>
          <a:p>
            <a:r>
              <a:rPr lang="en-US" b="1" dirty="0"/>
              <a:t>             KISHORE READDY </a:t>
            </a:r>
          </a:p>
          <a:p>
            <a:r>
              <a:rPr lang="en-US" b="1" dirty="0"/>
              <a:t>            </a:t>
            </a:r>
            <a:r>
              <a:rPr lang="en-US" sz="1600" dirty="0" err="1">
                <a:solidFill>
                  <a:schemeClr val="accent5">
                    <a:lumMod val="50000"/>
                  </a:schemeClr>
                </a:solidFill>
              </a:rPr>
              <a:t>R.No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: [2610520047]</a:t>
            </a:r>
          </a:p>
        </p:txBody>
      </p:sp>
      <p:sp>
        <p:nvSpPr>
          <p:cNvPr id="16" name="Student icon badge 2"/>
          <p:cNvSpPr/>
          <p:nvPr/>
        </p:nvSpPr>
        <p:spPr>
          <a:xfrm>
            <a:off x="4794504" y="325450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udent icon 2" descr="Student icon"/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43094" y="3387089"/>
            <a:ext cx="237744" cy="237744"/>
          </a:xfrm>
          <a:prstGeom prst="rect">
            <a:avLst/>
          </a:prstGeom>
        </p:spPr>
      </p:pic>
      <p:sp>
        <p:nvSpPr>
          <p:cNvPr id="18" name="Student name 2"/>
          <p:cNvSpPr txBox="1"/>
          <p:nvPr/>
        </p:nvSpPr>
        <p:spPr>
          <a:xfrm>
            <a:off x="5549646" y="3259073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SAFURA TARRANUM</a:t>
            </a:r>
            <a:endParaRPr lang="en-US" sz="1800" dirty="0"/>
          </a:p>
        </p:txBody>
      </p:sp>
      <p:sp>
        <p:nvSpPr>
          <p:cNvPr id="19" name="Roll number 2"/>
          <p:cNvSpPr txBox="1"/>
          <p:nvPr/>
        </p:nvSpPr>
        <p:spPr>
          <a:xfrm>
            <a:off x="5556504" y="3601974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/>
              <a:t>R.No: </a:t>
            </a:r>
            <a:r>
              <a:rPr lang="en-US" sz="1600" dirty="0">
                <a:solidFill>
                  <a:schemeClr val="accent5">
                    <a:lumMod val="50000"/>
                  </a:schemeClr>
                </a:solidFill>
              </a:rPr>
              <a:t>[2610520002]</a:t>
            </a:r>
          </a:p>
        </p:txBody>
      </p:sp>
      <p:sp>
        <p:nvSpPr>
          <p:cNvPr id="21" name="Student icon badge 1">
            <a:extLst>
              <a:ext uri="{FF2B5EF4-FFF2-40B4-BE49-F238E27FC236}">
                <a16:creationId xmlns:a16="http://schemas.microsoft.com/office/drawing/2014/main" id="{FC6C7340-7FBE-63BC-AB5D-438E40989909}"/>
              </a:ext>
            </a:extLst>
          </p:cNvPr>
          <p:cNvSpPr/>
          <p:nvPr/>
        </p:nvSpPr>
        <p:spPr>
          <a:xfrm>
            <a:off x="682752" y="4121277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udent icon 1" descr="Student icon">
            <a:extLst>
              <a:ext uri="{FF2B5EF4-FFF2-40B4-BE49-F238E27FC236}">
                <a16:creationId xmlns:a16="http://schemas.microsoft.com/office/drawing/2014/main" id="{708909AC-5445-1CE6-0514-4C8622028B9B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838200" y="4276725"/>
            <a:ext cx="237744" cy="237744"/>
          </a:xfrm>
          <a:prstGeom prst="rect">
            <a:avLst/>
          </a:prstGeom>
        </p:spPr>
      </p:pic>
      <p:sp>
        <p:nvSpPr>
          <p:cNvPr id="27" name="Student icon badge 1">
            <a:extLst>
              <a:ext uri="{FF2B5EF4-FFF2-40B4-BE49-F238E27FC236}">
                <a16:creationId xmlns:a16="http://schemas.microsoft.com/office/drawing/2014/main" id="{B6391B1A-19D0-C4EF-2036-730CA3AF8400}"/>
              </a:ext>
            </a:extLst>
          </p:cNvPr>
          <p:cNvSpPr/>
          <p:nvPr/>
        </p:nvSpPr>
        <p:spPr>
          <a:xfrm>
            <a:off x="4838700" y="415429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9" name="Student icon 2" descr="Student icon">
            <a:extLst>
              <a:ext uri="{FF2B5EF4-FFF2-40B4-BE49-F238E27FC236}">
                <a16:creationId xmlns:a16="http://schemas.microsoft.com/office/drawing/2014/main" id="{06A99063-40A6-A941-4073-0A86244E3E46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5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4994148" y="4321236"/>
            <a:ext cx="237744" cy="23774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01 • THE CHALLENGE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Why logs need attention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Important events are easy to miss in long log files.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1572768"/>
            <a:ext cx="4617720" cy="269748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31520" y="175564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59536" y="1737360"/>
            <a:ext cx="41605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THE PROBLEM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1965960"/>
            <a:ext cx="4160520" cy="205740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Servers and applications record events in log files.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Messages such as “error” and “failed” can be buried in many lines.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Manual checking takes time and may miss repeated failures.</a:t>
            </a:r>
          </a:p>
          <a:p>
            <a:pPr>
              <a:spcAft>
                <a:spcPts val="1200"/>
              </a:spcAft>
              <a:defRPr sz="1400">
                <a:solidFill>
                  <a:srgbClr val="F2F7FA"/>
                </a:solidFill>
                <a:latin typeface="Aptos"/>
              </a:defRPr>
            </a:pPr>
            <a:r>
              <a:t>•  A lightweight Bash tool scans logs, summarizes matches, and raises an alert.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40680" y="1627632"/>
            <a:ext cx="3127248" cy="2148840"/>
          </a:xfrm>
          <a:prstGeom prst="roundRect">
            <a:avLst/>
          </a:prstGeom>
          <a:solidFill>
            <a:srgbClr val="080E1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5605272" y="1773936"/>
            <a:ext cx="64008" cy="64008"/>
          </a:xfrm>
          <a:prstGeom prst="ellipse">
            <a:avLst/>
          </a:prstGeom>
          <a:solidFill>
            <a:srgbClr val="F67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5769864" y="1773936"/>
            <a:ext cx="64008" cy="64008"/>
          </a:xfrm>
          <a:prstGeom prst="ellipse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34456" y="1773936"/>
            <a:ext cx="64008" cy="64008"/>
          </a:xfrm>
          <a:prstGeom prst="ellipse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263640" y="1737360"/>
            <a:ext cx="212140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bash — terminal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577840" y="1975104"/>
            <a:ext cx="2852928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23560" y="2084832"/>
            <a:ext cx="2761488" cy="1581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$ tail -n 3 app.log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INFO: service started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ERROR: disk nearly full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Failed login attempt</a:t>
            </a:r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endParaRPr/>
          </a:p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$ _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40680" y="3950208"/>
            <a:ext cx="3127248" cy="502920"/>
          </a:xfrm>
          <a:prstGeom prst="roundRect">
            <a:avLst/>
          </a:prstGeom>
          <a:solidFill>
            <a:srgbClr val="123032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5605272" y="4087368"/>
            <a:ext cx="278892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Goal: turn noisy logs into clear signals.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02 • WHAT WE WANT TO ACHIEVE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Project goals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small, repeatable workflow built from standard Linux commands.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57276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2959" y="173736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16736" y="169164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Read or create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16736" y="194767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A sample log file from the terminal.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18888" y="157276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983479" y="173736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77255" y="169164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Search keywords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77255" y="194767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Find “error” and “failed” using grep.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253288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2959" y="269748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16736" y="265176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Count matches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16736" y="290779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Summarize matching entries and useful context.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18888" y="2532888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83479" y="2697480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77255" y="2651760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Run in background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77255" y="2907792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nohup for a background check.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24912" y="3657600"/>
            <a:ext cx="3794760" cy="749808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2889504" y="3822191"/>
            <a:ext cx="41148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83280" y="3776472"/>
            <a:ext cx="2880360" cy="2103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1" i="0">
                <a:solidFill>
                  <a:srgbClr val="F2F7FA"/>
                </a:solidFill>
                <a:latin typeface="Aptos"/>
              </a:defRPr>
            </a:pPr>
            <a:r>
              <a:t>Keep it simple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83280" y="4032504"/>
            <a:ext cx="2889504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Make the workflow repeatable and easy to demonstrate.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03 • SCOPE &amp; REQUIREMENTS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Scope &amp; requirements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Defined inputs, a small command-line interface, and clear outputs.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572768"/>
            <a:ext cx="3822191" cy="27432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86384" y="175564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1737360"/>
            <a:ext cx="336499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ENVIRONMENT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1984248"/>
            <a:ext cx="3383280" cy="1920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Platform: Ubuntu Linux or Windows Subsystem for Linux (WSL).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Interface: command-line terminal; implementation in Bash.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Input: selected log file or a sample log created for testing.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09160" y="1572768"/>
            <a:ext cx="3822191" cy="27432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73752" y="175564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01768" y="1737360"/>
            <a:ext cx="3364991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PROCESSING &amp;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37760" y="1984248"/>
            <a:ext cx="3383280" cy="1920240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Processing: grep-based keyword search and count using wc.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Output: matching lines, total matches, and an alert message.</a:t>
            </a:r>
          </a:p>
          <a:p>
            <a:pPr>
              <a:spcAft>
                <a:spcPts val="1300"/>
              </a:spcAft>
              <a:defRPr sz="1300">
                <a:solidFill>
                  <a:srgbClr val="F2F7FA"/>
                </a:solidFill>
                <a:latin typeface="Aptos"/>
              </a:defRPr>
            </a:pPr>
            <a:r>
              <a:t>•  Tools: Bash, grep, wc, cat, chmod, and nohup.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04 • EXISTING VS PROPOSED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From manual checking to automation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The proposed tool makes the routine faster and more consistent.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664208"/>
            <a:ext cx="3749039" cy="26060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59" y="184708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1828800"/>
            <a:ext cx="32918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EXISTING • MANUAL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2" y="2148840"/>
            <a:ext cx="640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E8C273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27632" y="2176272"/>
            <a:ext cx="242316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2F7FA"/>
                </a:solidFill>
                <a:latin typeface="Aptos"/>
              </a:defRPr>
            </a:pPr>
            <a:r>
              <a:t>Open a log and scan line by 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2880360"/>
            <a:ext cx="3154680" cy="7132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Repeated errors can be overlooked, and counting takes extra effort.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36592" y="1664208"/>
            <a:ext cx="3749039" cy="26060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901183" y="184708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0" y="1828800"/>
            <a:ext cx="32918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PROPOSED • AUTOMATED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83480" y="2148840"/>
            <a:ext cx="64008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8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2176272"/>
            <a:ext cx="2286000" cy="47548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500" b="1" i="0">
                <a:solidFill>
                  <a:srgbClr val="F2F7FA"/>
                </a:solidFill>
                <a:latin typeface="Aptos"/>
              </a:defRPr>
            </a:pPr>
            <a:r>
              <a:t>Search, count, and alert.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10912" y="2880360"/>
            <a:ext cx="3108960" cy="80467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Search selected keywords, count matches, display an alert, and optionally run with nohup.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977639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E8C273"/>
                </a:solidFill>
                <a:latin typeface="Aptos"/>
              </a:defRPr>
            </a:pPr>
            <a:r>
              <a:t>MANUAL REVIEW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10912" y="3977639"/>
            <a:ext cx="182880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AUTOMATED CHECK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05 • WORKFLOW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How the checker works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From launch to review, each step has one clear purpose.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52144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Launch the menu-driven Bash script.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96312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761488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898648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91840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Select log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07792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Create a sample log or choose an existing file.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36008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01183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038344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31536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47488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grep for “error” and “failed”.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75703" y="2139696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040879" y="1783080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78040" y="1892807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71231" y="1883664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87183" y="2221991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Use wc -l to count matching lines.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758952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2144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Alert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8096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Display matches and an alert when found.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496312" y="3438144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761488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898648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91840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07792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Optionally launch with nohup.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636008" y="3438144"/>
            <a:ext cx="228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901183" y="3081528"/>
            <a:ext cx="1901952" cy="9601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038344" y="3191256"/>
            <a:ext cx="384048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31536" y="3182112"/>
            <a:ext cx="123444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F2F7FA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47488" y="3520440"/>
            <a:ext cx="1609344" cy="4114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0" i="0">
                <a:solidFill>
                  <a:srgbClr val="AABCCB"/>
                </a:solidFill>
                <a:latin typeface="Aptos"/>
              </a:defRPr>
            </a:pPr>
            <a:r>
              <a:t>Inspect output and exit.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828800" y="4498848"/>
            <a:ext cx="5486400" cy="9144"/>
          </a:xfrm>
          <a:prstGeom prst="round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06 • SYSTEM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Input → analysis → alert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simple pipeline connects the log file to a useful result.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22959" y="2148840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50976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Log file path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Menu choice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Keywords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54096" y="2578608"/>
            <a:ext cx="38404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511296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3675887" y="2148840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803904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PROCESSING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12463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Check file exists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Search with grep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Count with wc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07024" y="2578608"/>
            <a:ext cx="384048" cy="3657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2400" b="1" i="0">
                <a:solidFill>
                  <a:srgbClr val="78DCA0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4224" y="1965960"/>
            <a:ext cx="2331720" cy="169164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528816" y="2148840"/>
            <a:ext cx="36576" cy="228600"/>
          </a:xfrm>
          <a:prstGeom prst="rect">
            <a:avLst/>
          </a:prstGeom>
          <a:solidFill>
            <a:srgbClr val="7DB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656832" y="2130552"/>
            <a:ext cx="187451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DB9F5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65392" y="2542032"/>
            <a:ext cx="1938528" cy="8686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Matched lines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Total count</a:t>
            </a:r>
          </a:p>
          <a:p>
            <a:pPr algn="l">
              <a:spcAft>
                <a:spcPts val="300"/>
              </a:spcAft>
              <a:defRPr sz="1300" b="0" i="0">
                <a:solidFill>
                  <a:srgbClr val="F2F7FA"/>
                </a:solidFill>
                <a:latin typeface="Aptos"/>
              </a:defRPr>
            </a:pPr>
            <a:r>
              <a:t>Alert / output file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069080"/>
            <a:ext cx="7040880" cy="32918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>
              <a:spcAft>
                <a:spcPts val="300"/>
              </a:spcAft>
              <a:defRPr sz="1200" b="0" i="0">
                <a:solidFill>
                  <a:srgbClr val="AABCCB"/>
                </a:solidFill>
                <a:latin typeface="Aptos"/>
              </a:defRPr>
            </a:pPr>
            <a:r>
              <a:t>Decision point: if the match count is greater than zero, display an alert.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07 • COMMANDS THAT POWER THE PROJECT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Core Linux tools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Each command has a focused role in the log-analysis workflow.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1481328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04672" y="1572768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SEARCH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1545336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grep -iE 'error|failed' app.log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97880" y="1554480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Find either keyword, case-insensitively.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1993392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04672" y="2084832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COUNT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828800" y="2057400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grep -iE 'error|failed' app.log | wc -l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97880" y="2066544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Count matching lines.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" y="2505456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4672" y="2596896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2569464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cat app.log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97880" y="2578608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Display a log file.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3017520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" y="3108960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PERMISSION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828800" y="3081528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chmod +x log_analyzer.sh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97880" y="3090672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Allow the script to execute.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0080" y="3529584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04672" y="3621024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BACKGROUND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828800" y="3593592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nohup ./log_analyzer.sh &gt; analyzer.out 2&gt;&amp;1 &amp;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897880" y="3602736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Run in background and save output.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" y="4041648"/>
            <a:ext cx="7882127" cy="420624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804672" y="4133087"/>
            <a:ext cx="1024128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78DCA0"/>
                </a:solidFill>
                <a:latin typeface="Aptos"/>
              </a:defRPr>
            </a:pPr>
            <a:r>
              <a:t>MENU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828800" y="4105656"/>
            <a:ext cx="4069080" cy="2194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0" i="0">
                <a:solidFill>
                  <a:srgbClr val="F2F7FA"/>
                </a:solidFill>
                <a:latin typeface="Cascadia Code"/>
              </a:defRPr>
            </a:pPr>
            <a:r>
              <a:t>case ... esac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4114800"/>
            <a:ext cx="2423160" cy="23774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0" i="0">
                <a:solidFill>
                  <a:srgbClr val="AABCCB"/>
                </a:solidFill>
                <a:latin typeface="Aptos"/>
              </a:defRPr>
            </a:pPr>
            <a:r>
              <a:t>Implement a clear terminal menu.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635240" y="1143000"/>
            <a:ext cx="3794760" cy="4389120"/>
          </a:xfrm>
          <a:prstGeom prst="roundRect">
            <a:avLst/>
          </a:prstGeom>
          <a:solidFill>
            <a:srgbClr val="141D2D"/>
          </a:solidFill>
          <a:ln w="15240">
            <a:solidFill>
              <a:srgbClr val="3143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35240" y="1143000"/>
            <a:ext cx="3794760" cy="475488"/>
          </a:xfrm>
          <a:prstGeom prst="rect">
            <a:avLst/>
          </a:prstGeom>
          <a:solidFill>
            <a:srgbClr val="1F2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882127" y="1298448"/>
            <a:ext cx="100584" cy="100584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110727" y="1298448"/>
            <a:ext cx="100584" cy="100584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339327" y="1298448"/>
            <a:ext cx="100584" cy="100584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936992" y="1965960"/>
            <a:ext cx="32461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 b="1">
                <a:solidFill>
                  <a:srgbClr val="5EEAD4"/>
                </a:solidFill>
                <a:latin typeface="Consolas"/>
              </a:defRPr>
            </a:pPr>
            <a:r>
              <a:rPr dirty="0"/>
              <a:t>$ ./log_analyzer.sh</a:t>
            </a:r>
          </a:p>
          <a:p>
            <a:pPr>
              <a:spcAft>
                <a:spcPts val="400"/>
              </a:spcAft>
              <a:defRPr sz="1200" b="0">
                <a:solidFill>
                  <a:srgbClr val="DCE6F0"/>
                </a:solidFill>
                <a:latin typeface="Consolas"/>
              </a:defRPr>
            </a:pPr>
            <a:endParaRPr dirty="0"/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1. Create sample log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2. View log file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3. Search &amp; count errors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4. Background check</a:t>
            </a:r>
          </a:p>
          <a:p>
            <a:pPr>
              <a:spcAft>
                <a:spcPts val="1000"/>
              </a:spcAft>
              <a:defRPr sz="1500" b="0">
                <a:solidFill>
                  <a:srgbClr val="DCE6F0"/>
                </a:solidFill>
                <a:latin typeface="Consolas"/>
              </a:defRPr>
            </a:pPr>
            <a:r>
              <a:rPr dirty="0"/>
              <a:t>5. Exit</a:t>
            </a:r>
          </a:p>
          <a:p>
            <a:pPr>
              <a:spcAft>
                <a:spcPts val="400"/>
              </a:spcAft>
              <a:defRPr sz="1200" b="0">
                <a:solidFill>
                  <a:srgbClr val="DCE6F0"/>
                </a:solidFill>
                <a:latin typeface="Consolas"/>
              </a:defRPr>
            </a:pPr>
            <a:endParaRPr dirty="0"/>
          </a:p>
          <a:p>
            <a:pPr>
              <a:spcAft>
                <a:spcPts val="1000"/>
              </a:spcAft>
              <a:defRPr sz="1500" b="1">
                <a:solidFill>
                  <a:srgbClr val="5EEAD4"/>
                </a:solidFill>
                <a:latin typeface="Consolas"/>
              </a:defRPr>
            </a:pPr>
            <a:r>
              <a:rPr dirty="0"/>
              <a:t>Ready for live demo...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19" y="342900"/>
            <a:ext cx="6126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5EEAD4"/>
                </a:solidFill>
                <a:latin typeface="Aptos"/>
              </a:defRPr>
            </a:pPr>
            <a:r>
              <a:rPr dirty="0"/>
              <a:t>BASHX  /  LINUX SYSTEMS PROGRAMMING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005840"/>
            <a:ext cx="6492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>
                <a:solidFill>
                  <a:srgbClr val="F5F8FC"/>
                </a:solidFill>
                <a:latin typeface="Aptos Display"/>
              </a:defRPr>
            </a:pPr>
            <a:r>
              <a:rPr dirty="0"/>
              <a:t>LIVE PROJECT</a:t>
            </a:r>
          </a:p>
          <a:p>
            <a:pPr>
              <a:defRPr sz="3400" b="1">
                <a:solidFill>
                  <a:srgbClr val="5EEAD4"/>
                </a:solidFill>
                <a:latin typeface="Aptos Display"/>
              </a:defRPr>
            </a:pPr>
            <a:r>
              <a:rPr dirty="0"/>
              <a:t>DEMONSTRATION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4" y="2435304"/>
            <a:ext cx="731520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00">
                <a:solidFill>
                  <a:srgbClr val="DBE3EE"/>
                </a:solidFill>
                <a:latin typeface="Aptos"/>
              </a:defRPr>
            </a:pPr>
            <a:r>
              <a:rPr dirty="0"/>
              <a:t>Now, we’ll switch to Ubuntu and show our Bash script in action.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" y="3987284"/>
            <a:ext cx="17830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rPr dirty="0"/>
              <a:t>01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Run the script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3179" y="4035028"/>
            <a:ext cx="19659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rPr dirty="0"/>
              <a:t>02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rPr dirty="0"/>
              <a:t>Search log entries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01770" y="3962400"/>
            <a:ext cx="1874519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5EEAD4"/>
                </a:solidFill>
                <a:latin typeface="Aptos"/>
              </a:defRPr>
            </a:pPr>
            <a:r>
              <a:t>03</a:t>
            </a:r>
          </a:p>
          <a:p>
            <a:pPr>
              <a:defRPr sz="1400">
                <a:solidFill>
                  <a:srgbClr val="F5F8FC"/>
                </a:solidFill>
                <a:latin typeface="Aptos"/>
              </a:defRPr>
            </a:pPr>
            <a:r>
              <a:t>Show the alert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172200"/>
            <a:ext cx="6583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E9DB1"/>
                </a:solidFill>
                <a:latin typeface="Aptos"/>
              </a:defRPr>
            </a:pPr>
            <a:r>
              <a:t>Automated Log Analysis and Error Alert System Using Bash Shell Scripting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274320"/>
            <a:ext cx="722376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15 • WRAP-UP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Next steps &amp; conclusion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A practical starting point for repeatable log inspection.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13232" y="1627632"/>
            <a:ext cx="3703320" cy="25603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877824" y="1810512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05840" y="1792224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t>CONCLUSION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7552" y="2194560"/>
            <a:ext cx="3063240" cy="100584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600" b="1" i="0">
                <a:solidFill>
                  <a:srgbClr val="F2F7FA"/>
                </a:solidFill>
                <a:latin typeface="Aptos"/>
              </a:defRPr>
            </a:pPr>
            <a:r>
              <a:t>Bash combines grep, wc, conditions, menus and nohup to make log checks repeatable.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27448" y="1627632"/>
            <a:ext cx="3703320" cy="256032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892040" y="1810512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0056" y="1792224"/>
            <a:ext cx="324612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t>FUTURE ENHANCEMENTS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10912" y="2057400"/>
            <a:ext cx="3063240" cy="1874519"/>
          </a:xfrm>
          <a:prstGeom prst="rect">
            <a:avLst/>
          </a:prstGeom>
          <a:noFill/>
        </p:spPr>
        <p:txBody>
          <a:bodyPr wrap="square" lIns="27432" tIns="18288" rIns="27432" bIns="18288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Timestamped reports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Cron scheduling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Configurable keywords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Log rotation support</a:t>
            </a:r>
          </a:p>
          <a:p>
            <a:pPr>
              <a:spcAft>
                <a:spcPts val="800"/>
              </a:spcAft>
              <a:defRPr sz="1200">
                <a:solidFill>
                  <a:srgbClr val="F2F7FA"/>
                </a:solidFill>
                <a:latin typeface="Aptos"/>
              </a:defRPr>
            </a:pPr>
            <a:r>
              <a:t>•  Email alerts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41148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1945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97763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5438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7325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5029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4173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3317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2461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16052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0" y="470916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7818120" y="-566928"/>
            <a:ext cx="1920240" cy="192024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183879" y="-164592"/>
            <a:ext cx="1115568" cy="1115568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98346" y="260096"/>
            <a:ext cx="722376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rPr sz="1400" dirty="0"/>
              <a:t>13 • TEAM CONTRIBUTIONS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0352" y="621792"/>
            <a:ext cx="7772400" cy="43891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2500" b="1" i="0">
                <a:solidFill>
                  <a:srgbClr val="F2F7FA"/>
                </a:solidFill>
                <a:latin typeface="Aptos"/>
              </a:defRPr>
            </a:pPr>
            <a:r>
              <a:t>Team BASHX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088136"/>
            <a:ext cx="7863840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t>Two contributors working across implementation, testing, and documentation.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30352" y="4718304"/>
            <a:ext cx="8083296" cy="10972"/>
          </a:xfrm>
          <a:prstGeom prst="rect">
            <a:avLst/>
          </a:prstGeom>
          <a:solidFill>
            <a:srgbClr val="2C44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48640" y="4800600"/>
            <a:ext cx="6766560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800" b="1" i="0">
                <a:solidFill>
                  <a:srgbClr val="AABCCB"/>
                </a:solidFill>
                <a:latin typeface="Aptos"/>
              </a:defRPr>
            </a:pPr>
            <a:r>
              <a:t>BASHX   /   BASH-BASED LOG ANALYSIS &amp; ERROR ALERTS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73168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1847088"/>
            <a:ext cx="36576" cy="228600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60122" y="1839812"/>
            <a:ext cx="3291838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rPr lang="en-US" sz="1600" dirty="0"/>
              <a:t>  S</a:t>
            </a:r>
            <a:r>
              <a:rPr sz="1600" dirty="0"/>
              <a:t>AFA</a:t>
            </a:r>
            <a:r>
              <a:rPr lang="en-US" sz="1600" dirty="0"/>
              <a:t>  SABER</a:t>
            </a:r>
            <a:endParaRPr sz="1600" dirty="0"/>
          </a:p>
        </p:txBody>
      </p:sp>
      <p:sp>
        <p:nvSpPr>
          <p:cNvPr id="29" name="TextBox 28"/>
          <p:cNvSpPr txBox="1"/>
          <p:nvPr/>
        </p:nvSpPr>
        <p:spPr>
          <a:xfrm>
            <a:off x="941832" y="2121408"/>
            <a:ext cx="65836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78DCA0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83080" y="2167128"/>
            <a:ext cx="228600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2F7FA"/>
                </a:solidFill>
                <a:latin typeface="Aptos"/>
              </a:defRPr>
            </a:pPr>
            <a:r>
              <a:rPr dirty="0"/>
              <a:t>Project </a:t>
            </a:r>
            <a:r>
              <a:rPr lang="en-US" dirty="0"/>
              <a:t>flow,</a:t>
            </a:r>
            <a:r>
              <a:rPr dirty="0"/>
              <a:t> </a:t>
            </a:r>
            <a:r>
              <a:rPr lang="en-US" dirty="0"/>
              <a:t>presentation and documentation.</a:t>
            </a:r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987552" y="3063240"/>
            <a:ext cx="30632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INTRO AND EXPLAINATION.</a:t>
            </a:r>
            <a:endParaRPr dirty="0"/>
          </a:p>
        </p:txBody>
      </p:sp>
      <p:sp>
        <p:nvSpPr>
          <p:cNvPr id="32" name="Rounded Rectangle 31"/>
          <p:cNvSpPr/>
          <p:nvPr/>
        </p:nvSpPr>
        <p:spPr>
          <a:xfrm>
            <a:off x="4727448" y="1664208"/>
            <a:ext cx="3703320" cy="2514600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/>
          <p:cNvSpPr/>
          <p:nvPr/>
        </p:nvSpPr>
        <p:spPr>
          <a:xfrm>
            <a:off x="4892040" y="1847088"/>
            <a:ext cx="36576" cy="228600"/>
          </a:xfrm>
          <a:prstGeom prst="rect">
            <a:avLst/>
          </a:prstGeom>
          <a:solidFill>
            <a:srgbClr val="E8C2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0056" y="1828800"/>
            <a:ext cx="3246120" cy="28315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E8C273"/>
                </a:solidFill>
                <a:latin typeface="Aptos"/>
              </a:defRPr>
            </a:pPr>
            <a:r>
              <a:rPr sz="1600" dirty="0"/>
              <a:t>SAF</a:t>
            </a:r>
            <a:r>
              <a:rPr lang="en-US" sz="1600" dirty="0"/>
              <a:t>FURA TARRANUM</a:t>
            </a:r>
            <a:endParaRPr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4956048" y="2121408"/>
            <a:ext cx="658368" cy="56692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3100" b="1" i="0">
                <a:solidFill>
                  <a:srgbClr val="E8C273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97296" y="2167128"/>
            <a:ext cx="2148840" cy="437043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300" b="1" i="0">
                <a:solidFill>
                  <a:srgbClr val="F2F7FA"/>
                </a:solidFill>
                <a:latin typeface="Aptos"/>
              </a:defRPr>
            </a:pPr>
            <a:r>
              <a:rPr lang="en-US" dirty="0"/>
              <a:t>Analysis and project execution .</a:t>
            </a:r>
            <a:endParaRPr dirty="0"/>
          </a:p>
        </p:txBody>
      </p:sp>
      <p:sp>
        <p:nvSpPr>
          <p:cNvPr id="37" name="TextBox 36"/>
          <p:cNvSpPr txBox="1"/>
          <p:nvPr/>
        </p:nvSpPr>
        <p:spPr>
          <a:xfrm>
            <a:off x="5001768" y="3063240"/>
            <a:ext cx="3063240" cy="2062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IMPLEMENTATION.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A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Content Placeholder 3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/>
          </a:p>
        </p:txBody>
      </p:sp>
      <p:cxnSp>
        <p:nvCxnSpPr>
          <p:cNvPr id="5" name="Connector 4"/>
          <p:cNvCxnSpPr/>
          <p:nvPr/>
        </p:nvCxnSpPr>
        <p:spPr>
          <a:xfrm>
            <a:off x="54864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28600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40233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76072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79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595360" y="0"/>
            <a:ext cx="0" cy="514350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0" y="6400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0" y="15544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0" y="24688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0" y="33832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0" y="4297680"/>
            <a:ext cx="9144000" cy="0"/>
          </a:xfrm>
          <a:prstGeom prst="line">
            <a:avLst/>
          </a:prstGeom>
          <a:ln w="6350">
            <a:solidFill>
              <a:srgbClr val="111F2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8DC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355080" y="292608"/>
            <a:ext cx="2194560" cy="2194560"/>
          </a:xfrm>
          <a:prstGeom prst="ellipse">
            <a:avLst/>
          </a:prstGeom>
          <a:solidFill>
            <a:srgbClr val="0E27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132320" y="731520"/>
            <a:ext cx="1280160" cy="1280160"/>
          </a:xfrm>
          <a:prstGeom prst="ellipse">
            <a:avLst/>
          </a:prstGeom>
          <a:solidFill>
            <a:srgbClr val="11343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230894"/>
            <a:ext cx="5943600" cy="2743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100" b="1" i="0">
                <a:solidFill>
                  <a:srgbClr val="78DCA0"/>
                </a:solidFill>
                <a:latin typeface="Aptos"/>
              </a:defRPr>
            </a:pPr>
            <a:r>
              <a:rPr dirty="0"/>
              <a:t>BASHX  /  LINUX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2" y="713233"/>
            <a:ext cx="8000998" cy="124495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300"/>
              </a:spcAft>
              <a:defRPr sz="3800" b="1" i="0">
                <a:solidFill>
                  <a:srgbClr val="F2F7FA"/>
                </a:solidFill>
                <a:latin typeface="Aptos"/>
              </a:defRPr>
            </a:pPr>
            <a:r>
              <a:rPr dirty="0"/>
              <a:t>Thank You</a:t>
            </a:r>
            <a:r>
              <a:rPr lang="en-US" dirty="0"/>
              <a:t> ! </a:t>
            </a:r>
          </a:p>
          <a:p>
            <a:pPr>
              <a:spcAft>
                <a:spcPts val="300"/>
              </a:spcAft>
              <a:defRPr sz="3800" b="1" i="0">
                <a:solidFill>
                  <a:srgbClr val="F2F7FA"/>
                </a:solidFill>
                <a:latin typeface="Aptos"/>
              </a:defRPr>
            </a:pPr>
            <a:r>
              <a:rPr lang="en-US" dirty="0"/>
              <a:t>Questions? comments? concerns?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2331720"/>
            <a:ext cx="6035040" cy="598625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700" b="0" i="0">
                <a:solidFill>
                  <a:srgbClr val="AABCCB"/>
                </a:solidFill>
                <a:latin typeface="Aptos"/>
              </a:defRPr>
            </a:pPr>
            <a:r>
              <a:rPr lang="en-US" dirty="0"/>
              <a:t> Done with :</a:t>
            </a:r>
            <a:r>
              <a:rPr dirty="0"/>
              <a:t>Automated Log Analysis and Error Alert System</a:t>
            </a:r>
          </a:p>
          <a:p>
            <a:pPr algn="l">
              <a:spcAft>
                <a:spcPts val="300"/>
              </a:spcAft>
              <a:defRPr sz="1700" b="0" i="0">
                <a:solidFill>
                  <a:srgbClr val="AABCCB"/>
                </a:solidFill>
                <a:latin typeface="Aptos"/>
              </a:defRPr>
            </a:pPr>
            <a:r>
              <a:rPr dirty="0"/>
              <a:t>Using Bash Shell Scripting</a:t>
            </a:r>
            <a:r>
              <a:rPr lang="en-US" dirty="0"/>
              <a:t>.</a:t>
            </a:r>
            <a:endParaRPr dirty="0"/>
          </a:p>
        </p:txBody>
      </p:sp>
      <p:sp>
        <p:nvSpPr>
          <p:cNvPr id="22" name="Rounded Rectangle 21"/>
          <p:cNvSpPr/>
          <p:nvPr/>
        </p:nvSpPr>
        <p:spPr>
          <a:xfrm>
            <a:off x="411482" y="3493008"/>
            <a:ext cx="3528058" cy="493776"/>
          </a:xfrm>
          <a:prstGeom prst="roundRect">
            <a:avLst/>
          </a:prstGeom>
          <a:solidFill>
            <a:srgbClr val="142438"/>
          </a:solidFill>
          <a:ln w="10160">
            <a:solidFill>
              <a:srgbClr val="2C44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685800" y="3566160"/>
            <a:ext cx="3886200" cy="252377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>
              <a:spcAft>
                <a:spcPts val="300"/>
              </a:spcAft>
              <a:defRPr sz="1000" b="1" i="0">
                <a:solidFill>
                  <a:srgbClr val="78DCA0"/>
                </a:solidFill>
                <a:latin typeface="Aptos"/>
              </a:defRPr>
            </a:pPr>
            <a:r>
              <a:rPr sz="1400" dirty="0"/>
              <a:t>SAFA SABER   •   SAFURA TARRANUM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82856" y="3102434"/>
            <a:ext cx="6708644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>
              <a:spcAft>
                <a:spcPts val="300"/>
              </a:spcAft>
              <a:defRPr sz="900" b="1" i="0">
                <a:solidFill>
                  <a:srgbClr val="AABCCB"/>
                </a:solidFill>
                <a:latin typeface="Aptos"/>
              </a:defRPr>
            </a:pPr>
            <a:r>
              <a:rPr lang="en-US" sz="2000" dirty="0"/>
              <a:t>BASHX  •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4709160"/>
            <a:ext cx="365760" cy="20116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r">
              <a:spcAft>
                <a:spcPts val="300"/>
              </a:spcAft>
              <a:defRPr sz="900" b="1" i="0">
                <a:solidFill>
                  <a:srgbClr val="78DCA0"/>
                </a:solidFill>
                <a:latin typeface="Aptos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502</TotalTime>
  <Words>1039</Words>
  <Application>Microsoft Office PowerPoint</Application>
  <PresentationFormat>On-screen Show (16:9)</PresentationFormat>
  <Paragraphs>215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Neue Haas Grotesk Text Pro</vt:lpstr>
      <vt:lpstr>Dune</vt:lpstr>
      <vt:lpstr>Automated Log Analysis and Error Alert System Using Bash Shell Scripting 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Front Slide Template</dc:title>
  <dc:subject>PptxGenJS Presentation</dc:subject>
  <dc:creator>PptxGenJS</dc:creator>
  <cp:lastModifiedBy>safa saber</cp:lastModifiedBy>
  <cp:revision>12</cp:revision>
  <dcterms:created xsi:type="dcterms:W3CDTF">2026-10-09T09:20:33Z</dcterms:created>
  <dcterms:modified xsi:type="dcterms:W3CDTF">2026-10-16T05:52:17Z</dcterms:modified>
</cp:coreProperties>
</file>